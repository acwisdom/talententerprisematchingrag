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202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TalentEnterpriseMatchingRAG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C8D0E0"/>
                </a:solidFill>
                <a:latin typeface="Microsoft YaHei"/>
              </a:defRPr>
            </a:pPr>
            <a:r>
              <a:t>人才—企业智能匹配与报告生成（RAG）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0644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8D0E0"/>
                </a:solidFill>
                <a:latin typeface="Microsoft YaHei"/>
              </a:defRPr>
            </a:pPr>
            <a:r>
              <a:t>企业库检索 · MiMo 报告 · Word 导出 · Web 流式体验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109728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F3C"/>
                </a:solidFill>
                <a:latin typeface="Microsoft YaHei"/>
              </a:defRPr>
            </a:pPr>
            <a:r>
              <a:t>项目定位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222838"/>
                </a:solidFill>
                <a:latin typeface="Microsoft YaHei"/>
              </a:defRPr>
            </a:pPr>
            <a:r>
              <a:t>以结构化企业库与向量索引为基础，面向高层次人才简历，完成「召回—重排—解释—成稿」闭环；可选大模型生成匹配报告与画像，并导出 Word，支撑咨询与政企材料起草。</a:t>
            </a:r>
          </a:p>
        </p:txBody>
      </p:sp>
      <p:sp>
        <p:nvSpPr>
          <p:cNvPr id="6" name="Oval 5"/>
          <p:cNvSpPr/>
          <p:nvPr/>
        </p:nvSpPr>
        <p:spPr>
          <a:xfrm>
            <a:off x="9326880" y="1828800"/>
            <a:ext cx="2194560" cy="21945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51460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RAG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109728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F3C"/>
                </a:solidFill>
                <a:latin typeface="Microsoft YaHei"/>
              </a:defRPr>
            </a:pPr>
            <a:r>
              <a:t>典型场景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65836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22838"/>
                </a:solidFill>
                <a:latin typeface="Microsoft YaHei"/>
              </a:defRPr>
            </a:pPr>
            <a:r>
              <a:t>引才咨询：博士/高层次人才简历与企业岗位或园区政策快速对齐</a:t>
            </a:r>
            <a:br/>
            <a:r>
              <a:t>政企对接：批量初筛、形成可读报告，减少手工检索与复制粘贴</a:t>
            </a:r>
            <a:br/>
            <a:r>
              <a:t>内部评审：统一检索口径与重排规则，便于复核与留痕（结合业务系统扩展）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234440"/>
            <a:ext cx="397763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417320"/>
            <a:ext cx="36118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22838"/>
                </a:solidFill>
                <a:latin typeface="Microsoft YaHei"/>
              </a:defRPr>
            </a:pPr>
            <a:r>
              <a:t>输入</a:t>
            </a:r>
            <a:br/>
            <a:r>
              <a:t>• 简历 PDF / DOCX / TXT</a:t>
            </a:r>
            <a:br/>
            <a:r>
              <a:t>• 企业 Excel 库</a:t>
            </a:r>
            <a:br/>
            <a:br/>
            <a:r>
              <a:t>输出</a:t>
            </a:r>
            <a:br/>
            <a:r>
              <a:t>• 匹配列表 + 解释</a:t>
            </a:r>
            <a:br/>
            <a:r>
              <a:t>• 报告 / Word</a:t>
            </a:r>
            <a:br/>
            <a:r>
              <a:t>• Web 流式展示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核心能力一览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234440"/>
            <a:ext cx="201168" cy="20116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16152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企业检索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1216152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8D0E0"/>
                </a:solidFill>
                <a:latin typeface="Microsoft YaHei"/>
              </a:defRPr>
            </a:pPr>
            <a:r>
              <a:t>关键词 / 向量 / 混合（RRF）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47672"/>
            <a:ext cx="201168" cy="20116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9384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向量索引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929384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8D0E0"/>
                </a:solidFill>
                <a:latin typeface="Microsoft YaHei"/>
              </a:defRPr>
            </a:pPr>
            <a:r>
              <a:t>Chroma + sentence-transformers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660904"/>
            <a:ext cx="201168" cy="20116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42616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简历解析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642616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8D0E0"/>
                </a:solidFill>
                <a:latin typeface="Microsoft YaHei"/>
              </a:defRPr>
            </a:pPr>
            <a:r>
              <a:t>PDF、DOCX、TXT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374136"/>
            <a:ext cx="201168" cy="20116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35584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匹配重排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355848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8D0E0"/>
                </a:solidFill>
                <a:latin typeface="Microsoft YaHei"/>
              </a:defRPr>
            </a:pPr>
            <a:r>
              <a:t>宽召回 + CrossEncoder + 规则 + 可选 LTR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087368"/>
            <a:ext cx="201168" cy="20116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6908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大模型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406908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8D0E0"/>
                </a:solidFill>
                <a:latin typeface="Microsoft YaHei"/>
              </a:defRPr>
            </a:pPr>
            <a:r>
              <a:t>小米 MiMo 报告与画像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800600"/>
            <a:ext cx="201168" cy="20116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782312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782312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8D0E0"/>
                </a:solidFill>
                <a:latin typeface="Microsoft YaHei"/>
              </a:defRPr>
            </a:pPr>
            <a:r>
              <a:t>FastAPI · SSE 流式 · /demo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5513831"/>
            <a:ext cx="201168" cy="20116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495544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扩展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5495544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8D0E0"/>
                </a:solidFill>
                <a:latin typeface="Microsoft YaHei"/>
              </a:defRPr>
            </a:pPr>
            <a:r>
              <a:t>Java REST v1 · LangGraph 工具层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109728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F3C"/>
                </a:solidFill>
                <a:latin typeface="Microsoft YaHei"/>
              </a:defRPr>
            </a:pPr>
            <a:r>
              <a:t>技术架构（示意）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143000"/>
            <a:ext cx="10424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8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25272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28090"/>
                </a:solidFill>
                <a:latin typeface="Microsoft YaHei"/>
              </a:defRPr>
            </a:pPr>
            <a:r>
              <a:t>表现层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252728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22838"/>
                </a:solidFill>
                <a:latin typeface="Microsoft YaHei"/>
              </a:defRPr>
            </a:pPr>
            <a:r>
              <a:t>web/main.py · 静态页 · 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47672"/>
            <a:ext cx="10424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8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28090"/>
                </a:solidFill>
                <a:latin typeface="Microsoft YaHei"/>
              </a:defRPr>
            </a:pPr>
            <a:r>
              <a:t>编排与业务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057400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22838"/>
                </a:solidFill>
                <a:latin typeface="Microsoft YaHei"/>
              </a:defRPr>
            </a:pPr>
            <a:r>
              <a:t>src/pipeline.py · 约束与重排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752344"/>
            <a:ext cx="10424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8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6207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28090"/>
                </a:solidFill>
                <a:latin typeface="Microsoft YaHei"/>
              </a:defRPr>
            </a:pPr>
            <a:r>
              <a:t>检索层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862072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22838"/>
                </a:solidFill>
                <a:latin typeface="Microsoft YaHei"/>
              </a:defRPr>
            </a:pPr>
            <a:r>
              <a:t>src/enterprise_search.py · 向量 / 混合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557016"/>
            <a:ext cx="10424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8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6674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28090"/>
                </a:solidFill>
                <a:latin typeface="Microsoft YaHei"/>
              </a:defRPr>
            </a:pPr>
            <a:r>
              <a:t>数据与索引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666744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22838"/>
                </a:solidFill>
                <a:latin typeface="Microsoft YaHei"/>
              </a:defRPr>
            </a:pPr>
            <a:r>
              <a:t>data/ · Chroma 持久化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361688"/>
            <a:ext cx="10424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8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47141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28090"/>
                </a:solidFill>
                <a:latin typeface="Microsoft YaHei"/>
              </a:defRPr>
            </a:pPr>
            <a:r>
              <a:t>模型服务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71416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22838"/>
                </a:solidFill>
                <a:latin typeface="Microsoft YaHei"/>
              </a:defRPr>
            </a:pPr>
            <a:r>
              <a:t>MiMo API（可选）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109728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F3C"/>
                </a:solidFill>
                <a:latin typeface="Microsoft YaHei"/>
              </a:defRPr>
            </a:pPr>
            <a:r>
              <a:t>端到端流程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01952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069848" y="1993392"/>
            <a:ext cx="411480" cy="201168"/>
          </a:xfrm>
          <a:prstGeom prst="rightArrow">
            <a:avLst/>
          </a:prstGeom>
          <a:solidFill>
            <a:srgbClr val="AAB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606040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22838"/>
                </a:solidFill>
                <a:latin typeface="Microsoft YaHei"/>
              </a:defRPr>
            </a:pPr>
            <a:r>
              <a:t>解析简历</a:t>
            </a:r>
          </a:p>
        </p:txBody>
      </p:sp>
      <p:sp>
        <p:nvSpPr>
          <p:cNvPr id="9" name="Oval 8"/>
          <p:cNvSpPr/>
          <p:nvPr/>
        </p:nvSpPr>
        <p:spPr>
          <a:xfrm>
            <a:off x="2075688" y="182880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9968" y="1901952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42616" y="1993392"/>
            <a:ext cx="411480" cy="201168"/>
          </a:xfrm>
          <a:prstGeom prst="rightArrow">
            <a:avLst/>
          </a:prstGeom>
          <a:solidFill>
            <a:srgbClr val="AAB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55648" y="2606040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22838"/>
                </a:solidFill>
                <a:latin typeface="Microsoft YaHei"/>
              </a:defRPr>
            </a:pPr>
            <a:r>
              <a:t>构建查询</a:t>
            </a:r>
          </a:p>
        </p:txBody>
      </p:sp>
      <p:sp>
        <p:nvSpPr>
          <p:cNvPr id="13" name="Oval 12"/>
          <p:cNvSpPr/>
          <p:nvPr/>
        </p:nvSpPr>
        <p:spPr>
          <a:xfrm>
            <a:off x="3648456" y="182880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901952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215384" y="1993392"/>
            <a:ext cx="411480" cy="201168"/>
          </a:xfrm>
          <a:prstGeom prst="rightArrow">
            <a:avLst/>
          </a:prstGeom>
          <a:solidFill>
            <a:srgbClr val="AAB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8416" y="2606040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22838"/>
                </a:solidFill>
                <a:latin typeface="Microsoft YaHei"/>
              </a:defRPr>
            </a:pPr>
            <a:r>
              <a:t>宽召回</a:t>
            </a:r>
          </a:p>
        </p:txBody>
      </p:sp>
      <p:sp>
        <p:nvSpPr>
          <p:cNvPr id="17" name="Oval 16"/>
          <p:cNvSpPr/>
          <p:nvPr/>
        </p:nvSpPr>
        <p:spPr>
          <a:xfrm>
            <a:off x="5221224" y="182880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5504" y="1901952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788152" y="1993392"/>
            <a:ext cx="411480" cy="201168"/>
          </a:xfrm>
          <a:prstGeom prst="rightArrow">
            <a:avLst/>
          </a:prstGeom>
          <a:solidFill>
            <a:srgbClr val="AAB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01184" y="2606040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22838"/>
                </a:solidFill>
                <a:latin typeface="Microsoft YaHei"/>
              </a:defRPr>
            </a:pPr>
            <a:r>
              <a:t>重排与解释</a:t>
            </a:r>
          </a:p>
        </p:txBody>
      </p:sp>
      <p:sp>
        <p:nvSpPr>
          <p:cNvPr id="21" name="Oval 20"/>
          <p:cNvSpPr/>
          <p:nvPr/>
        </p:nvSpPr>
        <p:spPr>
          <a:xfrm>
            <a:off x="6793992" y="182880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1901952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360919" y="1993392"/>
            <a:ext cx="411480" cy="201168"/>
          </a:xfrm>
          <a:prstGeom prst="rightArrow">
            <a:avLst/>
          </a:prstGeom>
          <a:solidFill>
            <a:srgbClr val="AAB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606040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22838"/>
                </a:solidFill>
                <a:latin typeface="Microsoft YaHei"/>
              </a:defRPr>
            </a:pPr>
            <a:r>
              <a:t>组装提示词</a:t>
            </a:r>
          </a:p>
        </p:txBody>
      </p:sp>
      <p:sp>
        <p:nvSpPr>
          <p:cNvPr id="25" name="Oval 24"/>
          <p:cNvSpPr/>
          <p:nvPr/>
        </p:nvSpPr>
        <p:spPr>
          <a:xfrm>
            <a:off x="8366760" y="182880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901952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933688" y="1993392"/>
            <a:ext cx="411480" cy="201168"/>
          </a:xfrm>
          <a:prstGeom prst="rightArrow">
            <a:avLst/>
          </a:prstGeom>
          <a:solidFill>
            <a:srgbClr val="AAB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606040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22838"/>
                </a:solidFill>
                <a:latin typeface="Microsoft YaHei"/>
              </a:defRPr>
            </a:pPr>
            <a:r>
              <a:t>生成报告</a:t>
            </a:r>
          </a:p>
        </p:txBody>
      </p:sp>
      <p:sp>
        <p:nvSpPr>
          <p:cNvPr id="29" name="Oval 28"/>
          <p:cNvSpPr/>
          <p:nvPr/>
        </p:nvSpPr>
        <p:spPr>
          <a:xfrm>
            <a:off x="9939528" y="1828800"/>
            <a:ext cx="502920" cy="502920"/>
          </a:xfrm>
          <a:prstGeom prst="ellipse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93808" y="1901952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488" y="2606040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22838"/>
                </a:solidFill>
                <a:latin typeface="Microsoft YaHei"/>
              </a:defRPr>
            </a:pPr>
            <a:r>
              <a:t>导出 Word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977639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2838"/>
                </a:solidFill>
                <a:latin typeface="Microsoft YaHei"/>
              </a:defRPr>
            </a:pPr>
            <a:r>
              <a:t>说明：检索模式、重排开关与 LTR 等由环境变量与 src/config.py 控制；详见 docs/match-rerank.md。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部署与运维要点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D0E0"/>
                </a:solidFill>
                <a:latin typeface="Microsoft YaHei"/>
              </a:defRPr>
            </a:pPr>
            <a:r>
              <a:t>• Docker / Fly.io：见 docs/deploy-public.md</a:t>
            </a:r>
            <a:br/>
            <a:r>
              <a:t>• 公网 SSE：反向代理需关闭缓冲、合理超时</a:t>
            </a:r>
            <a:br/>
            <a:r>
              <a:t>• 密钥：MIMO_API_KEY、APP_API_KEY（Web）</a:t>
            </a:r>
            <a:br/>
            <a:r>
              <a:t>• 可选 Java：`java/recruitment-api` + `langgraph_tools`（docs/java-langgraph-integration.md）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109728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F3C"/>
                </a:solidFill>
                <a:latin typeface="Microsoft YaHei"/>
              </a:defRPr>
            </a:pPr>
            <a:r>
              <a:t>仓库与文档索引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22838"/>
                </a:solidFill>
                <a:latin typeface="Microsoft YaHei"/>
              </a:defRPr>
            </a:pPr>
            <a:r>
              <a:t>README.md — 总览与命令</a:t>
            </a:r>
            <a:br/>
            <a:r>
              <a:t>docs/项目介绍.md — 约 300 字简介</a:t>
            </a:r>
            <a:br/>
            <a:r>
              <a:t>docs/deploy-public.md — 公网部署</a:t>
            </a:r>
            <a:br/>
            <a:r>
              <a:t>docs/match-rerank.md — 匹配与重排</a:t>
            </a:r>
            <a:br/>
            <a:r>
              <a:t>docs/java-langgraph-integration.md — Java 与 LangGraph</a:t>
            </a:r>
            <a:br/>
            <a:r>
              <a:t>TalentEnterpriseMatchingRAG_project_brief_feishu.docx — 飞书用 Word 说明（根目录）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C8D0E0"/>
                </a:solidFill>
                <a:latin typeface="Microsoft YaHei"/>
              </a:defRPr>
            </a:pPr>
            <a:r>
              <a:t>欢迎提问与交流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